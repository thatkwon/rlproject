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64" r:id="rId5"/>
    <p:sldId id="265" r:id="rId6"/>
    <p:sldId id="266" r:id="rId7"/>
    <p:sldId id="267" r:id="rId8"/>
    <p:sldId id="268" r:id="rId9"/>
    <p:sldId id="259" r:id="rId10"/>
    <p:sldId id="260" r:id="rId11"/>
    <p:sldId id="261" r:id="rId12"/>
    <p:sldId id="262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94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48AD37-841F-685D-A2AB-3468D588A0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5E02243-8C23-8EC9-1094-51094817A6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FCA2CF-D99A-16B8-2188-09C2153F7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4D114-A18E-4A8F-A998-712133131576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2FB9FA-90DA-171F-8D88-473EB9FC5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478F2F-4C90-2FF7-2133-C69A45D5F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A5EB3-172F-4798-8069-B9BD25D814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4293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2C965D-8FCF-19E6-5765-16178E31E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0BCEDC-20F0-5DA8-991A-AEB2C372B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302BA9-21AF-9D60-7B3B-4F5BE3843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4D114-A18E-4A8F-A998-712133131576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30EF9B-0022-21BF-D91C-F83A8F4BE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42EF9A-F841-A9FE-EB3F-2B3FFA778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A5EB3-172F-4798-8069-B9BD25D814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8273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4F66D3-B232-5067-97DA-206F0EF9C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80A8C77-1F4E-3804-8C94-91291DDCE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0787D0-27D9-0242-03E8-F55507142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4D114-A18E-4A8F-A998-712133131576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337D93-EB40-7088-EBAA-655B2ADA3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92C5D8-4333-5C8B-A226-C983A9E67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A5EB3-172F-4798-8069-B9BD25D814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6363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C01EE1-87A1-2A45-CA38-AF3ED5691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F2FE93-0D43-4337-43D1-5925E34991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2D138B9-9FC9-2C7D-0A44-84BE74F328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9E4A38-81E3-FA1F-0CC8-C6B94B38B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4D114-A18E-4A8F-A998-712133131576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40AC72-D880-2CFF-7AEB-8CB1EA18D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86DE0B4-BC5A-8D5E-A454-1625C8636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A5EB3-172F-4798-8069-B9BD25D814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8975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464B3B-054C-0571-5B55-DEE27E1F2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0CAA0DC-0EB2-9E5C-5882-C552A09B9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3F33DEA-C29F-2BAF-090F-B6D28F090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B18366-7646-32DF-D057-9FABCB4237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F5B922E-15DB-061D-ACCC-D800849F31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244B509-8A41-EA51-3B56-DA2BBB0E4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4D114-A18E-4A8F-A998-712133131576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F190796-A73F-1224-EA1B-522D44155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FFF7AD9-807B-9DE5-F3A0-6B68727D5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A5EB3-172F-4798-8069-B9BD25D814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61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2FD51E-FF09-BB6E-6E10-0DEA8D3BA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EA17DD5-0A31-0DD5-A5CF-1DB66182E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4D114-A18E-4A8F-A998-712133131576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3D63E7B-BD3C-D3E6-8BD8-60F788621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0295AC3-81C4-EA0B-6167-C91D56A11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A5EB3-172F-4798-8069-B9BD25D814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1364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54DA4B0-6B27-5967-F7CC-E2508BD45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4D114-A18E-4A8F-A998-712133131576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FB59A37-ADF2-7053-AE31-0C8A915EA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3F5FF3-606F-349B-3B8B-976C47F1F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A5EB3-172F-4798-8069-B9BD25D814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980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A8FA34-37CB-ADF2-2CD8-2BE3687A0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15752D-CC64-E7B6-E4C0-943523F8A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5D40C93-3623-E8B2-7D03-466BA47EA1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506745-05C8-F249-CE32-7112623B7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4D114-A18E-4A8F-A998-712133131576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2BB86B8-265F-A592-2C7E-63D242C1A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28613E-2BD4-7F6F-16E8-8E9E9AFC8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A5EB3-172F-4798-8069-B9BD25D814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8942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02DAF9-6F9A-65AA-588A-508A65032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62562F6-1C43-E3D5-248A-6F4B7113D3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E01B1BA-3FC4-6044-3F41-8A6219FF57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9817EC-57F4-F511-01A3-156765029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4D114-A18E-4A8F-A998-712133131576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737021B-B18C-FB7B-947C-4F1B13C59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F7E7E4-333A-2EE4-D966-22C6250C5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A5EB3-172F-4798-8069-B9BD25D814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0691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20B941-4959-A126-9C43-32002AF35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C2698D1-E219-2792-C756-5978AC2F75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FAF523-53D8-5936-5BA7-E019CB3CF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4D114-A18E-4A8F-A998-712133131576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AD388E-FDEB-EB8B-A073-179E80784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0A0939-D80A-3305-755F-63BDF7384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A5EB3-172F-4798-8069-B9BD25D814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7401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0E0A2F7-881A-CA13-2204-72FF6F74F1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9B47C0A-EE38-C9BF-2EA5-9C92DEF128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8EC923-6206-5879-44CF-090E7A661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4D114-A18E-4A8F-A998-712133131576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095A03-C1C8-7A2C-F8AD-1D3B52AE8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99F863-B351-764E-FBE2-CE13C1953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A5EB3-172F-4798-8069-B9BD25D814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624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57D4F8B-958F-30B1-2A8C-D830BB4F3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2594CA-0876-1D26-7362-ABABB870B7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FCBC12-0B71-BE5E-FFE4-AD9C3C2A64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14D114-A18E-4A8F-A998-712133131576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221DCC-52E6-D8C5-FBE5-88C09C591F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2A4552-1D1C-E24D-4030-360C90525F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7A5EB3-172F-4798-8069-B9BD25D814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011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0670B19-D4D1-04F8-8678-1C7B918A5143}"/>
              </a:ext>
            </a:extLst>
          </p:cNvPr>
          <p:cNvSpPr txBox="1"/>
          <p:nvPr/>
        </p:nvSpPr>
        <p:spPr>
          <a:xfrm>
            <a:off x="1661832" y="2413337"/>
            <a:ext cx="88683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강화학습 프로젝트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58C92A-63A6-BA9C-5C45-8FE68FA1AC56}"/>
              </a:ext>
            </a:extLst>
          </p:cNvPr>
          <p:cNvSpPr txBox="1"/>
          <p:nvPr/>
        </p:nvSpPr>
        <p:spPr>
          <a:xfrm>
            <a:off x="5109991" y="3429000"/>
            <a:ext cx="1972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20201552 </a:t>
            </a:r>
            <a:r>
              <a:rPr lang="ko-KR" altLang="en-US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권현호</a:t>
            </a:r>
          </a:p>
        </p:txBody>
      </p:sp>
    </p:spTree>
    <p:extLst>
      <p:ext uri="{BB962C8B-B14F-4D97-AF65-F5344CB8AC3E}">
        <p14:creationId xmlns:p14="http://schemas.microsoft.com/office/powerpoint/2010/main" val="2126471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4465B-BD88-794B-8338-A0FD52C46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5050CBD-B9A5-6714-E070-B3BBD819487E}"/>
              </a:ext>
            </a:extLst>
          </p:cNvPr>
          <p:cNvSpPr txBox="1"/>
          <p:nvPr/>
        </p:nvSpPr>
        <p:spPr>
          <a:xfrm>
            <a:off x="416859" y="336176"/>
            <a:ext cx="47636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프로젝트 주제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B9824F-6CC3-D437-BC6D-F946E993F808}"/>
              </a:ext>
            </a:extLst>
          </p:cNvPr>
          <p:cNvSpPr txBox="1"/>
          <p:nvPr/>
        </p:nvSpPr>
        <p:spPr>
          <a:xfrm>
            <a:off x="806824" y="1311088"/>
            <a:ext cx="3956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다중 유닛 전투 환경에서 유닛의 행동 학습 </a:t>
            </a:r>
          </a:p>
        </p:txBody>
      </p:sp>
    </p:spTree>
    <p:extLst>
      <p:ext uri="{BB962C8B-B14F-4D97-AF65-F5344CB8AC3E}">
        <p14:creationId xmlns:p14="http://schemas.microsoft.com/office/powerpoint/2010/main" val="1175238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30E19-7972-1DD0-8273-D21915FD8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AA2C4A3-3FB1-35CB-52E6-FB7D099A6F2D}"/>
              </a:ext>
            </a:extLst>
          </p:cNvPr>
          <p:cNvSpPr txBox="1"/>
          <p:nvPr/>
        </p:nvSpPr>
        <p:spPr>
          <a:xfrm>
            <a:off x="416859" y="336176"/>
            <a:ext cx="47636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환경 및 데이터셋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072602-E41A-CC9C-D72B-277F209B375B}"/>
              </a:ext>
            </a:extLst>
          </p:cNvPr>
          <p:cNvSpPr txBox="1"/>
          <p:nvPr/>
        </p:nvSpPr>
        <p:spPr>
          <a:xfrm>
            <a:off x="806824" y="1311088"/>
            <a:ext cx="86262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전장 공간</a:t>
            </a:r>
            <a:r>
              <a:rPr lang="en-US" altLang="ko-KR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: [256, 256]</a:t>
            </a:r>
          </a:p>
          <a:p>
            <a:endParaRPr lang="en-US" altLang="ko-KR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  <a:p>
            <a:r>
              <a:rPr lang="ko-KR" altLang="en-US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유닛</a:t>
            </a:r>
            <a:r>
              <a:rPr lang="en-US" altLang="ko-KR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: [...</a:t>
            </a:r>
            <a:r>
              <a:rPr lang="ko-KR" altLang="en-US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아군 </a:t>
            </a:r>
            <a:r>
              <a:rPr lang="en-US" altLang="ko-KR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5, ...</a:t>
            </a:r>
            <a:r>
              <a:rPr lang="ko-KR" altLang="en-US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적군 </a:t>
            </a:r>
            <a:r>
              <a:rPr lang="en-US" altLang="ko-KR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5]</a:t>
            </a:r>
          </a:p>
          <a:p>
            <a:r>
              <a:rPr lang="ko-KR" altLang="en-US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각 유닛은 한정된 </a:t>
            </a:r>
            <a:r>
              <a:rPr lang="en-US" altLang="ko-KR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budget</a:t>
            </a:r>
            <a:r>
              <a:rPr lang="ko-KR" altLang="en-US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에 따라 무작위 능력치를 분배받는다</a:t>
            </a:r>
            <a:r>
              <a:rPr lang="en-US" altLang="ko-KR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.</a:t>
            </a:r>
          </a:p>
          <a:p>
            <a:endParaRPr lang="en-US" altLang="ko-KR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  <a:p>
            <a:r>
              <a:rPr lang="ko-KR" altLang="en-US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각 </a:t>
            </a:r>
            <a:r>
              <a:rPr lang="en-US" altLang="ko-KR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step</a:t>
            </a:r>
            <a:r>
              <a:rPr lang="ko-KR" altLang="en-US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마다 간단한 엔진 기반 이동 및 공격 시스템을 적용한다</a:t>
            </a:r>
            <a:r>
              <a:rPr lang="en-US" altLang="ko-KR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.</a:t>
            </a:r>
          </a:p>
          <a:p>
            <a:endParaRPr lang="en-US" altLang="ko-KR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  <a:p>
            <a:r>
              <a:rPr lang="ko-KR" altLang="en-US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각 에피소드는 아군 또는 적군의 모든 유닛이 사망하면 종료된다</a:t>
            </a:r>
            <a:r>
              <a:rPr lang="en-US" altLang="ko-KR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.</a:t>
            </a:r>
            <a:r>
              <a:rPr lang="ko-KR" altLang="en-US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</a:t>
            </a:r>
            <a:endParaRPr lang="en-US" altLang="ko-KR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33496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3F3EB-C667-12D9-5473-5C179C1A3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F1ACD52-3C2D-655B-5B3A-42A168BF2A71}"/>
              </a:ext>
            </a:extLst>
          </p:cNvPr>
          <p:cNvSpPr txBox="1"/>
          <p:nvPr/>
        </p:nvSpPr>
        <p:spPr>
          <a:xfrm>
            <a:off x="416859" y="336176"/>
            <a:ext cx="47636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환경 및 데이터셋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3D2841-4407-3895-F2CF-9F2D5CC039C3}"/>
              </a:ext>
            </a:extLst>
          </p:cNvPr>
          <p:cNvSpPr txBox="1"/>
          <p:nvPr/>
        </p:nvSpPr>
        <p:spPr>
          <a:xfrm>
            <a:off x="806823" y="1311088"/>
            <a:ext cx="10374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각 유닛은 한정된 </a:t>
            </a:r>
            <a:r>
              <a:rPr lang="en-US" altLang="ko-KR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budget</a:t>
            </a:r>
            <a:r>
              <a:rPr lang="ko-KR" altLang="en-US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에 따라 고유의 능력치를 가진다</a:t>
            </a:r>
            <a:r>
              <a:rPr lang="en-US" altLang="ko-KR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. </a:t>
            </a:r>
            <a:r>
              <a:rPr lang="ko-KR" altLang="en-US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유닛은 다음 </a:t>
            </a:r>
            <a:r>
              <a:rPr lang="en-US" altLang="ko-KR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FSM</a:t>
            </a:r>
            <a:r>
              <a:rPr lang="ko-KR" altLang="en-US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에 따라 행동을 결정한다</a:t>
            </a:r>
            <a:r>
              <a:rPr lang="en-US" altLang="ko-KR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1F849B-F867-043C-B4AE-8AEBC457DEAC}"/>
              </a:ext>
            </a:extLst>
          </p:cNvPr>
          <p:cNvSpPr txBox="1"/>
          <p:nvPr/>
        </p:nvSpPr>
        <p:spPr>
          <a:xfrm>
            <a:off x="806824" y="1772753"/>
            <a:ext cx="609487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>
                <a:solidFill>
                  <a:srgbClr val="B3AE60"/>
                </a:solidFill>
                <a:effectLst/>
                <a:latin typeface="JetBrains Mono"/>
              </a:rPr>
              <a:t>@dataclass</a:t>
            </a:r>
            <a:br>
              <a:rPr lang="en-US" altLang="ko-KR" sz="1800">
                <a:solidFill>
                  <a:srgbClr val="B3AE60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CF8E6D"/>
                </a:solidFill>
                <a:effectLst/>
                <a:latin typeface="JetBrains Mono"/>
              </a:rPr>
              <a:t>class 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Unit:</a:t>
            </a: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    team: </a:t>
            </a:r>
            <a:r>
              <a:rPr lang="en-US" altLang="ko-KR" sz="1800">
                <a:solidFill>
                  <a:srgbClr val="8888C6"/>
                </a:solidFill>
                <a:effectLst/>
                <a:latin typeface="JetBrains Mono"/>
              </a:rPr>
              <a:t>int</a:t>
            </a:r>
            <a:br>
              <a:rPr lang="en-US" altLang="ko-KR" sz="1800">
                <a:solidFill>
                  <a:srgbClr val="8888C6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8888C6"/>
                </a:solidFill>
                <a:effectLst/>
                <a:latin typeface="JetBrains Mono"/>
              </a:rPr>
              <a:t>    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stats: UnitStat</a:t>
            </a: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    attack_target_idx: Optional[</a:t>
            </a:r>
            <a:r>
              <a:rPr lang="en-US" altLang="ko-KR" sz="1800">
                <a:solidFill>
                  <a:srgbClr val="8888C6"/>
                </a:solidFill>
                <a:effectLst/>
                <a:latin typeface="JetBrains Mono"/>
              </a:rPr>
              <a:t>int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] = </a:t>
            </a:r>
            <a:r>
              <a:rPr lang="en-US" altLang="ko-KR" sz="1800">
                <a:solidFill>
                  <a:srgbClr val="CF8E6D"/>
                </a:solidFill>
                <a:effectLst/>
                <a:latin typeface="JetBrains Mono"/>
              </a:rPr>
              <a:t>None</a:t>
            </a:r>
            <a:br>
              <a:rPr lang="en-US" altLang="ko-KR" sz="1800">
                <a:solidFill>
                  <a:srgbClr val="CF8E6D"/>
                </a:solidFill>
                <a:effectLst/>
                <a:latin typeface="JetBrains Mono"/>
              </a:rPr>
            </a:br>
            <a:br>
              <a:rPr lang="en-US" altLang="ko-KR" sz="1800">
                <a:solidFill>
                  <a:srgbClr val="CF8E6D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CF8E6D"/>
                </a:solidFill>
                <a:effectLst/>
                <a:latin typeface="JetBrains Mono"/>
              </a:rPr>
              <a:t>    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state: UnitState = UnitState.IDLE</a:t>
            </a: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    reaction_steps: </a:t>
            </a:r>
            <a:r>
              <a:rPr lang="en-US" altLang="ko-KR" sz="1800">
                <a:solidFill>
                  <a:srgbClr val="8888C6"/>
                </a:solidFill>
                <a:effectLst/>
                <a:latin typeface="JetBrains Mono"/>
              </a:rPr>
              <a:t>int 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= </a:t>
            </a:r>
            <a:r>
              <a:rPr lang="en-US" altLang="ko-KR" sz="1800">
                <a:solidFill>
                  <a:srgbClr val="2AACB8"/>
                </a:solidFill>
                <a:effectLst/>
                <a:latin typeface="JetBrains Mono"/>
              </a:rPr>
              <a:t>8</a:t>
            </a:r>
            <a:br>
              <a:rPr lang="en-US" altLang="ko-KR" sz="1800">
                <a:solidFill>
                  <a:srgbClr val="2AACB8"/>
                </a:solidFill>
                <a:effectLst/>
                <a:latin typeface="JetBrains Mono"/>
              </a:rPr>
            </a:br>
            <a:br>
              <a:rPr lang="en-US" altLang="ko-KR" sz="1800">
                <a:solidFill>
                  <a:srgbClr val="2AACB8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2AACB8"/>
                </a:solidFill>
                <a:effectLst/>
                <a:latin typeface="JetBrains Mono"/>
              </a:rPr>
              <a:t>    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pos: np.ndarray = field(</a:t>
            </a:r>
            <a:r>
              <a:rPr lang="en-US" altLang="ko-KR" sz="1800">
                <a:solidFill>
                  <a:srgbClr val="AA4926"/>
                </a:solidFill>
                <a:effectLst/>
                <a:latin typeface="JetBrains Mono"/>
              </a:rPr>
              <a:t>default_factory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ko-KR" sz="1800">
                <a:solidFill>
                  <a:srgbClr val="CF8E6D"/>
                </a:solidFill>
                <a:effectLst/>
                <a:latin typeface="JetBrains Mono"/>
              </a:rPr>
              <a:t>lambda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: np.zeros(</a:t>
            </a:r>
            <a:r>
              <a:rPr lang="en-US" altLang="ko-KR" sz="1800">
                <a:solidFill>
                  <a:srgbClr val="2AACB8"/>
                </a:solidFill>
                <a:effectLst/>
                <a:latin typeface="JetBrains Mono"/>
              </a:rPr>
              <a:t>2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))</a:t>
            </a: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    move_dir: np.ndarray = field(</a:t>
            </a:r>
            <a:r>
              <a:rPr lang="en-US" altLang="ko-KR" sz="1800">
                <a:solidFill>
                  <a:srgbClr val="AA4926"/>
                </a:solidFill>
                <a:effectLst/>
                <a:latin typeface="JetBrains Mono"/>
              </a:rPr>
              <a:t>default_factory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ko-KR" sz="1800">
                <a:solidFill>
                  <a:srgbClr val="CF8E6D"/>
                </a:solidFill>
                <a:effectLst/>
                <a:latin typeface="JetBrains Mono"/>
              </a:rPr>
              <a:t>lambda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: np.zeros(</a:t>
            </a:r>
            <a:r>
              <a:rPr lang="en-US" altLang="ko-KR" sz="1800">
                <a:solidFill>
                  <a:srgbClr val="2AACB8"/>
                </a:solidFill>
                <a:effectLst/>
                <a:latin typeface="JetBrains Mono"/>
              </a:rPr>
              <a:t>2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))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0365DA-9020-7CF1-5CD4-9D6A396C2EAD}"/>
              </a:ext>
            </a:extLst>
          </p:cNvPr>
          <p:cNvSpPr txBox="1"/>
          <p:nvPr/>
        </p:nvSpPr>
        <p:spPr>
          <a:xfrm>
            <a:off x="7431181" y="1772753"/>
            <a:ext cx="337353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>
                <a:solidFill>
                  <a:srgbClr val="CF8E6D"/>
                </a:solidFill>
                <a:effectLst/>
                <a:latin typeface="JetBrains Mono"/>
              </a:rPr>
              <a:t>class 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StatType(Enum):</a:t>
            </a: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    MAX_HP = auto()</a:t>
            </a: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    HP = auto()</a:t>
            </a: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    ATTACK = auto()</a:t>
            </a: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    ATTACK_RANGE = auto()</a:t>
            </a: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    ATTACK_SPEED = auto()</a:t>
            </a: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    DEFENSE = auto()</a:t>
            </a: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    MOVE_SPEED = auto()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A648CA-BB5E-B62F-AD03-5A85140C6C89}"/>
              </a:ext>
            </a:extLst>
          </p:cNvPr>
          <p:cNvSpPr txBox="1"/>
          <p:nvPr/>
        </p:nvSpPr>
        <p:spPr>
          <a:xfrm>
            <a:off x="7431181" y="4425006"/>
            <a:ext cx="360885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>
                <a:solidFill>
                  <a:srgbClr val="CF8E6D"/>
                </a:solidFill>
                <a:effectLst/>
                <a:latin typeface="JetBrains Mono"/>
              </a:rPr>
              <a:t>class 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UnitState(Enum):</a:t>
            </a: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    IDLE = auto()</a:t>
            </a: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    MOVE = auto()</a:t>
            </a: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    ATTACK = auto()</a:t>
            </a: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    DEAD = auto()</a:t>
            </a:r>
          </a:p>
        </p:txBody>
      </p:sp>
    </p:spTree>
    <p:extLst>
      <p:ext uri="{BB962C8B-B14F-4D97-AF65-F5344CB8AC3E}">
        <p14:creationId xmlns:p14="http://schemas.microsoft.com/office/powerpoint/2010/main" val="2328422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80640-5AFC-265E-A6FA-E2D8D3620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65F5AB2-33FB-F722-5B88-75F2D6D4E9BA}"/>
              </a:ext>
            </a:extLst>
          </p:cNvPr>
          <p:cNvSpPr txBox="1"/>
          <p:nvPr/>
        </p:nvSpPr>
        <p:spPr>
          <a:xfrm>
            <a:off x="416859" y="336176"/>
            <a:ext cx="47636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환경 및 데이터셋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66BD59-7371-9BDE-38D3-7F5F51673487}"/>
              </a:ext>
            </a:extLst>
          </p:cNvPr>
          <p:cNvSpPr txBox="1"/>
          <p:nvPr/>
        </p:nvSpPr>
        <p:spPr>
          <a:xfrm>
            <a:off x="806824" y="1311088"/>
            <a:ext cx="8626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각 유닛은 한정된 </a:t>
            </a:r>
            <a:r>
              <a:rPr lang="en-US" altLang="ko-KR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budget</a:t>
            </a:r>
            <a:r>
              <a:rPr lang="ko-KR" altLang="en-US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에 따라 능력치가 무작위로 분배된다</a:t>
            </a:r>
            <a:r>
              <a:rPr lang="en-US" altLang="ko-KR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9EEDE1-1482-F094-C0FE-0D9F6FE86BD5}"/>
              </a:ext>
            </a:extLst>
          </p:cNvPr>
          <p:cNvSpPr txBox="1"/>
          <p:nvPr/>
        </p:nvSpPr>
        <p:spPr>
          <a:xfrm>
            <a:off x="806824" y="1772753"/>
            <a:ext cx="609487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>
                <a:solidFill>
                  <a:srgbClr val="CF8E6D"/>
                </a:solidFill>
                <a:effectLst/>
                <a:latin typeface="JetBrains Mono"/>
              </a:rPr>
              <a:t>def </a:t>
            </a:r>
            <a:r>
              <a:rPr lang="en-US" altLang="ko-KR" sz="1800">
                <a:solidFill>
                  <a:srgbClr val="56A8F5"/>
                </a:solidFill>
                <a:effectLst/>
                <a:latin typeface="JetBrains Mono"/>
              </a:rPr>
              <a:t>_generate_units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ko-KR" sz="180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, budget_per_unit=</a:t>
            </a:r>
            <a:r>
              <a:rPr lang="en-US" altLang="ko-KR" sz="1800">
                <a:solidFill>
                  <a:srgbClr val="2AACB8"/>
                </a:solidFill>
                <a:effectLst/>
                <a:latin typeface="JetBrains Mono"/>
              </a:rPr>
              <a:t>10.0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):</a:t>
            </a: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    units = []</a:t>
            </a: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800">
                <a:solidFill>
                  <a:srgbClr val="CF8E6D"/>
                </a:solidFill>
                <a:effectLst/>
                <a:latin typeface="JetBrains Mono"/>
              </a:rPr>
              <a:t>for 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team </a:t>
            </a:r>
            <a:r>
              <a:rPr lang="en-US" altLang="ko-KR" sz="1800">
                <a:solidFill>
                  <a:srgbClr val="CF8E6D"/>
                </a:solidFill>
                <a:effectLst/>
                <a:latin typeface="JetBrains Mono"/>
              </a:rPr>
              <a:t>in 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[</a:t>
            </a:r>
            <a:r>
              <a:rPr lang="en-US" altLang="ko-KR" sz="1800"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,</a:t>
            </a:r>
            <a:r>
              <a:rPr lang="en-US" altLang="ko-KR" sz="1800"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]:</a:t>
            </a: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ko-KR" sz="1800">
                <a:solidFill>
                  <a:srgbClr val="CF8E6D"/>
                </a:solidFill>
                <a:effectLst/>
                <a:latin typeface="JetBrains Mono"/>
              </a:rPr>
              <a:t>for 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i </a:t>
            </a:r>
            <a:r>
              <a:rPr lang="en-US" altLang="ko-KR" sz="1800">
                <a:solidFill>
                  <a:srgbClr val="CF8E6D"/>
                </a:solidFill>
                <a:effectLst/>
                <a:latin typeface="JetBrains Mono"/>
              </a:rPr>
              <a:t>in </a:t>
            </a:r>
            <a:r>
              <a:rPr lang="en-US" altLang="ko-KR" sz="1800">
                <a:solidFill>
                  <a:srgbClr val="8888C6"/>
                </a:solidFill>
                <a:effectLst/>
                <a:latin typeface="JetBrains Mono"/>
              </a:rPr>
              <a:t>range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(ALLY_COUNT):</a:t>
            </a: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            </a:t>
            </a:r>
            <a:r>
              <a:rPr lang="en-US" altLang="ko-KR" sz="1800" b="1">
                <a:effectLst/>
                <a:latin typeface="JetBrains Mono"/>
              </a:rPr>
              <a:t>w = np.random.dirichlet([1, 1, 1, 1, 1, 1])</a:t>
            </a:r>
            <a:br>
              <a:rPr lang="en-US" altLang="ko-KR" sz="1800" b="1">
                <a:effectLst/>
                <a:latin typeface="JetBrains Mono"/>
              </a:rPr>
            </a:br>
            <a:r>
              <a:rPr lang="en-US" altLang="ko-KR" sz="1800" b="1">
                <a:effectLst/>
                <a:latin typeface="JetBrains Mono"/>
              </a:rPr>
              <a:t>            allocated = w * budget_per_unit</a:t>
            </a:r>
            <a:br>
              <a:rPr lang="en-US" altLang="ko-KR" sz="1800" b="1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            stats = UnitStat({</a:t>
            </a: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                StatType.MAX_HP: </a:t>
            </a:r>
            <a:r>
              <a:rPr lang="en-US" altLang="ko-KR" sz="1800">
                <a:solidFill>
                  <a:srgbClr val="2AACB8"/>
                </a:solidFill>
                <a:effectLst/>
                <a:latin typeface="JetBrains Mono"/>
              </a:rPr>
              <a:t>50 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+ allocated[</a:t>
            </a:r>
            <a:r>
              <a:rPr lang="en-US" altLang="ko-KR" sz="1800"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] * </a:t>
            </a:r>
            <a:r>
              <a:rPr lang="en-US" altLang="ko-KR" sz="1800">
                <a:solidFill>
                  <a:srgbClr val="2AACB8"/>
                </a:solidFill>
                <a:effectLst/>
                <a:latin typeface="JetBrains Mono"/>
              </a:rPr>
              <a:t>10,</a:t>
            </a:r>
          </a:p>
          <a:p>
            <a:pPr>
              <a:buNone/>
            </a:pPr>
            <a:r>
              <a:rPr lang="en-US" altLang="ko-KR">
                <a:solidFill>
                  <a:srgbClr val="2AACB8"/>
                </a:solidFill>
                <a:latin typeface="JetBrains Mono"/>
              </a:rPr>
              <a:t>                …</a:t>
            </a:r>
            <a:endParaRPr lang="en-US" altLang="ko-KR">
              <a:solidFill>
                <a:srgbClr val="BCBEC4"/>
              </a:solidFill>
              <a:latin typeface="JetBrains Mono"/>
            </a:endParaRPr>
          </a:p>
          <a:p>
            <a:pPr>
              <a:buNone/>
            </a:pP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})</a:t>
            </a:r>
          </a:p>
          <a:p>
            <a:pPr>
              <a:buNone/>
            </a:pP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800">
                <a:solidFill>
                  <a:srgbClr val="CF8E6D"/>
                </a:solidFill>
                <a:effectLst/>
                <a:latin typeface="JetBrains Mono"/>
              </a:rPr>
              <a:t>return 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units</a:t>
            </a:r>
          </a:p>
        </p:txBody>
      </p:sp>
    </p:spTree>
    <p:extLst>
      <p:ext uri="{BB962C8B-B14F-4D97-AF65-F5344CB8AC3E}">
        <p14:creationId xmlns:p14="http://schemas.microsoft.com/office/powerpoint/2010/main" val="1844464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FB424-6673-F729-7470-6083CF380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DB9C07A-3284-86CD-A7C2-61EAC3FD529B}"/>
              </a:ext>
            </a:extLst>
          </p:cNvPr>
          <p:cNvSpPr txBox="1"/>
          <p:nvPr/>
        </p:nvSpPr>
        <p:spPr>
          <a:xfrm>
            <a:off x="416859" y="336176"/>
            <a:ext cx="47636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state, action, reward</a:t>
            </a:r>
            <a:endParaRPr lang="ko-KR" altLang="en-US" sz="3000">
              <a:latin typeface="Pretendard Variable SemiBold" panose="02000003000000020004" pitchFamily="2" charset="-127"/>
              <a:ea typeface="Pretendard Variable SemiBold" panose="02000003000000020004" pitchFamily="2" charset="-127"/>
              <a:cs typeface="Pretendard Variable SemiBold" panose="020000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7A53AE-ABCB-E739-338C-F8A826FC29D4}"/>
              </a:ext>
            </a:extLst>
          </p:cNvPr>
          <p:cNvSpPr txBox="1"/>
          <p:nvPr/>
        </p:nvSpPr>
        <p:spPr>
          <a:xfrm>
            <a:off x="806824" y="1311088"/>
            <a:ext cx="8626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state</a:t>
            </a:r>
            <a:r>
              <a:rPr lang="en-US" altLang="ko-KR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observation space</a:t>
            </a:r>
            <a:r>
              <a:rPr lang="ko-KR" altLang="en-US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는 다음과 같이 생성된다</a:t>
            </a:r>
            <a:r>
              <a:rPr lang="en-US" altLang="ko-KR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63AF18-8086-1CAF-B544-427CC0343CC0}"/>
              </a:ext>
            </a:extLst>
          </p:cNvPr>
          <p:cNvSpPr txBox="1"/>
          <p:nvPr/>
        </p:nvSpPr>
        <p:spPr>
          <a:xfrm>
            <a:off x="806824" y="1772753"/>
            <a:ext cx="609487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>
                <a:solidFill>
                  <a:srgbClr val="CF8E6D"/>
                </a:solidFill>
                <a:effectLst/>
                <a:latin typeface="JetBrains Mono"/>
              </a:rPr>
              <a:t>def </a:t>
            </a:r>
            <a:r>
              <a:rPr lang="en-US" altLang="ko-KR" sz="1800">
                <a:solidFill>
                  <a:srgbClr val="56A8F5"/>
                </a:solidFill>
                <a:effectLst/>
                <a:latin typeface="JetBrains Mono"/>
              </a:rPr>
              <a:t>_build_obs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ko-KR" sz="180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):</a:t>
            </a: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    obs = []</a:t>
            </a:r>
          </a:p>
          <a:p>
            <a:pPr>
              <a:buNone/>
            </a:pP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    unit_vec = [</a:t>
            </a: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            team_flag,</a:t>
            </a: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            alive_flag,</a:t>
            </a: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            hp_ratio,</a:t>
            </a: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            pos_x_ratio, pos_y_ratio,</a:t>
            </a: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            *distances</a:t>
            </a:r>
            <a:br>
              <a:rPr lang="ko-KR" altLang="en-US" sz="1800">
                <a:solidFill>
                  <a:srgbClr val="7A7E85"/>
                </a:solidFill>
                <a:effectLst/>
                <a:latin typeface="Courier New" panose="02070309020205020404" pitchFamily="49" charset="0"/>
              </a:rPr>
            </a:br>
            <a:r>
              <a:rPr lang="ko-KR" altLang="en-US" sz="1800">
                <a:solidFill>
                  <a:srgbClr val="7A7E85"/>
                </a:solidFill>
                <a:effectLst/>
                <a:latin typeface="Courier New" panose="02070309020205020404" pitchFamily="49" charset="0"/>
              </a:rPr>
              <a:t>   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]</a:t>
            </a: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        obs.extend(unit_vec)</a:t>
            </a: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800">
                <a:solidFill>
                  <a:srgbClr val="CF8E6D"/>
                </a:solidFill>
                <a:effectLst/>
                <a:latin typeface="JetBrains Mono"/>
              </a:rPr>
              <a:t>return 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np.array(obs, </a:t>
            </a:r>
            <a:r>
              <a:rPr lang="en-US" altLang="ko-KR" sz="1800">
                <a:solidFill>
                  <a:srgbClr val="AA4926"/>
                </a:solidFill>
                <a:effectLst/>
                <a:latin typeface="JetBrains Mono"/>
              </a:rPr>
              <a:t>dtype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=np.float32)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267E88-9C53-AE47-C3B2-DA60EBAA441D}"/>
              </a:ext>
            </a:extLst>
          </p:cNvPr>
          <p:cNvSpPr txBox="1"/>
          <p:nvPr/>
        </p:nvSpPr>
        <p:spPr>
          <a:xfrm>
            <a:off x="806824" y="5558405"/>
            <a:ext cx="9305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agent</a:t>
            </a:r>
            <a:r>
              <a:rPr lang="ko-KR" altLang="en-US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가 상호작용하는 전체 전장 공간 대신 유닛별 위치만 </a:t>
            </a:r>
            <a:r>
              <a:rPr lang="en-US" altLang="ko-KR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obs</a:t>
            </a:r>
            <a:r>
              <a:rPr lang="ko-KR" altLang="en-US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로 사용한다</a:t>
            </a:r>
            <a:r>
              <a:rPr lang="en-US" altLang="ko-KR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8918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57618-0F69-EA36-96B0-578557B28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A938752-5AF6-74C2-5D14-8EEB6A51B63D}"/>
              </a:ext>
            </a:extLst>
          </p:cNvPr>
          <p:cNvSpPr txBox="1"/>
          <p:nvPr/>
        </p:nvSpPr>
        <p:spPr>
          <a:xfrm>
            <a:off x="416859" y="336176"/>
            <a:ext cx="47636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state, action, reward</a:t>
            </a:r>
            <a:endParaRPr lang="ko-KR" altLang="en-US" sz="3000">
              <a:latin typeface="Pretendard Variable SemiBold" panose="02000003000000020004" pitchFamily="2" charset="-127"/>
              <a:ea typeface="Pretendard Variable SemiBold" panose="02000003000000020004" pitchFamily="2" charset="-127"/>
              <a:cs typeface="Pretendard Variable SemiBold" panose="020000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2DDD5D-85B4-87DE-9DA7-F05868CA9E45}"/>
              </a:ext>
            </a:extLst>
          </p:cNvPr>
          <p:cNvSpPr txBox="1"/>
          <p:nvPr/>
        </p:nvSpPr>
        <p:spPr>
          <a:xfrm>
            <a:off x="806824" y="1311088"/>
            <a:ext cx="8626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action</a:t>
            </a:r>
            <a:r>
              <a:rPr lang="en-US" altLang="ko-KR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</a:t>
            </a:r>
            <a:r>
              <a:rPr lang="ko-KR" altLang="en-US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행동 공간은 다음과 같다</a:t>
            </a:r>
            <a:r>
              <a:rPr lang="en-US" altLang="ko-KR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390DE8-7CB0-4971-E433-68F0509C155B}"/>
              </a:ext>
            </a:extLst>
          </p:cNvPr>
          <p:cNvSpPr txBox="1"/>
          <p:nvPr/>
        </p:nvSpPr>
        <p:spPr>
          <a:xfrm>
            <a:off x="806824" y="1772753"/>
            <a:ext cx="609487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.action_space = spaces.Dict({</a:t>
            </a: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800">
                <a:solidFill>
                  <a:srgbClr val="6AAB73"/>
                </a:solidFill>
                <a:effectLst/>
                <a:latin typeface="JetBrains Mono"/>
              </a:rPr>
              <a:t>"action_type"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: spaces.MultiDiscrete([</a:t>
            </a:r>
            <a:r>
              <a:rPr lang="en-US" altLang="ko-KR" sz="1800">
                <a:solidFill>
                  <a:srgbClr val="2AACB8"/>
                </a:solidFill>
                <a:effectLst/>
                <a:latin typeface="JetBrains Mono"/>
              </a:rPr>
              <a:t>3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] * ALLY_COUNT),</a:t>
            </a: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800">
                <a:solidFill>
                  <a:srgbClr val="6AAB73"/>
                </a:solidFill>
                <a:effectLst/>
                <a:latin typeface="JetBrains Mono"/>
              </a:rPr>
              <a:t>"move_dir"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: spaces.Box(</a:t>
            </a:r>
            <a:r>
              <a:rPr lang="en-US" altLang="ko-KR" sz="1800">
                <a:solidFill>
                  <a:srgbClr val="AA4926"/>
                </a:solidFill>
                <a:effectLst/>
                <a:latin typeface="JetBrains Mono"/>
              </a:rPr>
              <a:t>low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=-</a:t>
            </a:r>
            <a:r>
              <a:rPr lang="en-US" altLang="ko-KR" sz="1800">
                <a:solidFill>
                  <a:srgbClr val="2AACB8"/>
                </a:solidFill>
                <a:effectLst/>
                <a:latin typeface="JetBrains Mono"/>
              </a:rPr>
              <a:t>1.0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ko-KR" sz="1800">
                <a:solidFill>
                  <a:srgbClr val="AA4926"/>
                </a:solidFill>
                <a:effectLst/>
                <a:latin typeface="JetBrains Mono"/>
              </a:rPr>
              <a:t>high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ko-KR" sz="1800">
                <a:solidFill>
                  <a:srgbClr val="2AACB8"/>
                </a:solidFill>
                <a:effectLst/>
                <a:latin typeface="JetBrains Mono"/>
              </a:rPr>
              <a:t>1.0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ko-KR" sz="1800">
                <a:solidFill>
                  <a:srgbClr val="AA4926"/>
                </a:solidFill>
                <a:effectLst/>
                <a:latin typeface="JetBrains Mono"/>
              </a:rPr>
              <a:t>shape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=(ALLY_COUNT, </a:t>
            </a:r>
            <a:r>
              <a:rPr lang="en-US" altLang="ko-KR" sz="1800">
                <a:solidFill>
                  <a:srgbClr val="2AACB8"/>
                </a:solidFill>
                <a:effectLst/>
                <a:latin typeface="JetBrains Mono"/>
              </a:rPr>
              <a:t>2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), </a:t>
            </a:r>
            <a:r>
              <a:rPr lang="en-US" altLang="ko-KR" sz="1800">
                <a:solidFill>
                  <a:srgbClr val="AA4926"/>
                </a:solidFill>
                <a:effectLst/>
                <a:latin typeface="JetBrains Mono"/>
              </a:rPr>
              <a:t>dtype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=np.float32),</a:t>
            </a: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800">
                <a:solidFill>
                  <a:srgbClr val="6AAB73"/>
                </a:solidFill>
                <a:effectLst/>
                <a:latin typeface="JetBrains Mono"/>
              </a:rPr>
              <a:t>"attack_target"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: spaces.MultiDiscrete([NUM_UNITS] * ALLY_COUNT)</a:t>
            </a: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})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96CE5B-36D7-AE2C-8CFA-4AA86731ED3F}"/>
              </a:ext>
            </a:extLst>
          </p:cNvPr>
          <p:cNvSpPr txBox="1"/>
          <p:nvPr/>
        </p:nvSpPr>
        <p:spPr>
          <a:xfrm>
            <a:off x="806824" y="3896411"/>
            <a:ext cx="9305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stable-baseline3</a:t>
            </a:r>
            <a:r>
              <a:rPr lang="ko-KR" altLang="en-US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는 </a:t>
            </a:r>
            <a:r>
              <a:rPr lang="en-US" altLang="ko-KR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Dict action</a:t>
            </a:r>
            <a:r>
              <a:rPr lang="ko-KR" altLang="en-US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</a:t>
            </a:r>
            <a:r>
              <a:rPr lang="en-US" altLang="ko-KR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space</a:t>
            </a:r>
            <a:r>
              <a:rPr lang="ko-KR" altLang="en-US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를 받을 수 없기 때문에</a:t>
            </a:r>
            <a:r>
              <a:rPr lang="en-US" altLang="ko-KR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, </a:t>
            </a:r>
            <a:r>
              <a:rPr lang="ko-KR" altLang="en-US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다음과 같이 </a:t>
            </a:r>
            <a:r>
              <a:rPr lang="en-US" altLang="ko-KR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flatten</a:t>
            </a:r>
            <a:r>
              <a:rPr lang="ko-KR" altLang="en-US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하여 사용한다</a:t>
            </a:r>
            <a:r>
              <a:rPr lang="en-US" altLang="ko-KR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966EA6-FDB0-2CA0-CD55-BD64B22B267C}"/>
              </a:ext>
            </a:extLst>
          </p:cNvPr>
          <p:cNvSpPr txBox="1"/>
          <p:nvPr/>
        </p:nvSpPr>
        <p:spPr>
          <a:xfrm>
            <a:off x="806824" y="4358076"/>
            <a:ext cx="60948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.action_space = spaces.Box(</a:t>
            </a:r>
            <a:r>
              <a:rPr lang="en-US" altLang="ko-KR" sz="1800">
                <a:solidFill>
                  <a:srgbClr val="AA4926"/>
                </a:solidFill>
                <a:effectLst/>
                <a:latin typeface="JetBrains Mono"/>
              </a:rPr>
              <a:t>low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=-</a:t>
            </a:r>
            <a:r>
              <a:rPr lang="en-US" altLang="ko-KR" sz="1800">
                <a:solidFill>
                  <a:srgbClr val="2AACB8"/>
                </a:solidFill>
                <a:effectLst/>
                <a:latin typeface="JetBrains Mono"/>
              </a:rPr>
              <a:t>1.0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ko-KR" sz="1800">
                <a:solidFill>
                  <a:srgbClr val="AA4926"/>
                </a:solidFill>
                <a:effectLst/>
                <a:latin typeface="JetBrains Mono"/>
              </a:rPr>
              <a:t>high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ko-KR" sz="1800">
                <a:solidFill>
                  <a:srgbClr val="2AACB8"/>
                </a:solidFill>
                <a:effectLst/>
                <a:latin typeface="JetBrains Mono"/>
              </a:rPr>
              <a:t>1.0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ko-KR" sz="1800">
                <a:solidFill>
                  <a:srgbClr val="AA4926"/>
                </a:solidFill>
                <a:effectLst/>
                <a:latin typeface="JetBrains Mono"/>
              </a:rPr>
              <a:t>shape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=(</a:t>
            </a:r>
            <a:r>
              <a:rPr lang="en-US" altLang="ko-KR" sz="1800">
                <a:solidFill>
                  <a:srgbClr val="2AACB8"/>
                </a:solidFill>
                <a:effectLst/>
                <a:latin typeface="JetBrains Mono"/>
              </a:rPr>
              <a:t>20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,), </a:t>
            </a:r>
            <a:r>
              <a:rPr lang="en-US" altLang="ko-KR" sz="1800">
                <a:solidFill>
                  <a:srgbClr val="AA4926"/>
                </a:solidFill>
                <a:effectLst/>
                <a:latin typeface="JetBrains Mono"/>
              </a:rPr>
              <a:t>dtype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=np.float32)</a:t>
            </a:r>
          </a:p>
        </p:txBody>
      </p:sp>
    </p:spTree>
    <p:extLst>
      <p:ext uri="{BB962C8B-B14F-4D97-AF65-F5344CB8AC3E}">
        <p14:creationId xmlns:p14="http://schemas.microsoft.com/office/powerpoint/2010/main" val="4153904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66E01-3758-C2A4-0691-98987109D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AD6F3D2-5AD6-24CF-B1D2-72064467CFA6}"/>
              </a:ext>
            </a:extLst>
          </p:cNvPr>
          <p:cNvSpPr txBox="1"/>
          <p:nvPr/>
        </p:nvSpPr>
        <p:spPr>
          <a:xfrm>
            <a:off x="416859" y="336176"/>
            <a:ext cx="47636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state, action, reward</a:t>
            </a:r>
            <a:endParaRPr lang="ko-KR" altLang="en-US" sz="3000">
              <a:latin typeface="Pretendard Variable SemiBold" panose="02000003000000020004" pitchFamily="2" charset="-127"/>
              <a:ea typeface="Pretendard Variable SemiBold" panose="02000003000000020004" pitchFamily="2" charset="-127"/>
              <a:cs typeface="Pretendard Variable SemiBold" panose="020000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B5CCD1-AABC-5C48-2FC2-B27F76CB5760}"/>
              </a:ext>
            </a:extLst>
          </p:cNvPr>
          <p:cNvSpPr txBox="1"/>
          <p:nvPr/>
        </p:nvSpPr>
        <p:spPr>
          <a:xfrm>
            <a:off x="806824" y="1311088"/>
            <a:ext cx="862628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reward</a:t>
            </a:r>
            <a:r>
              <a:rPr lang="en-US" altLang="ko-KR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</a:t>
            </a:r>
            <a:br>
              <a:rPr lang="en-US" altLang="ko-KR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endParaRPr lang="en-US" altLang="ko-KR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  <a:p>
            <a:r>
              <a:rPr lang="ko-KR" altLang="en-US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단기 보상을 기반으로 학습을 촉진하되</a:t>
            </a:r>
            <a:r>
              <a:rPr lang="en-US" altLang="ko-KR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,</a:t>
            </a:r>
          </a:p>
          <a:p>
            <a:r>
              <a:rPr lang="ko-KR" altLang="en-US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최종 승패에 충분한 비중을 둔다</a:t>
            </a:r>
            <a:r>
              <a:rPr lang="en-US" altLang="ko-KR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.</a:t>
            </a:r>
          </a:p>
          <a:p>
            <a:endParaRPr lang="en-US" altLang="ko-KR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  <a:p>
            <a:r>
              <a:rPr lang="ko-KR" altLang="en-US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집중 타격을 유도하기 위해</a:t>
            </a:r>
            <a:endParaRPr lang="en-US" altLang="ko-KR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  <a:p>
            <a:r>
              <a:rPr lang="ko-KR" altLang="en-US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유닛이 사망했을 시 추가 보상을 제공한다</a:t>
            </a:r>
            <a:r>
              <a:rPr lang="en-US" altLang="ko-KR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D28C2C-11A9-8B9E-BDF1-E84B5C8972DF}"/>
              </a:ext>
            </a:extLst>
          </p:cNvPr>
          <p:cNvSpPr txBox="1"/>
          <p:nvPr/>
        </p:nvSpPr>
        <p:spPr>
          <a:xfrm>
            <a:off x="5483039" y="335515"/>
            <a:ext cx="6094878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curr_hp = np.array([u.stats.get(StatType.HP) </a:t>
            </a:r>
            <a:r>
              <a:rPr lang="en-US" altLang="ko-KR" sz="1800">
                <a:solidFill>
                  <a:srgbClr val="CF8E6D"/>
                </a:solidFill>
                <a:effectLst/>
                <a:latin typeface="JetBrains Mono"/>
              </a:rPr>
              <a:t>for 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u </a:t>
            </a:r>
            <a:r>
              <a:rPr lang="en-US" altLang="ko-KR" sz="1800">
                <a:solidFill>
                  <a:srgbClr val="CF8E6D"/>
                </a:solidFill>
                <a:effectLst/>
                <a:latin typeface="JetBrains Mono"/>
              </a:rPr>
              <a:t>in </a:t>
            </a:r>
            <a:r>
              <a:rPr lang="en-US" altLang="ko-KR" sz="180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.units])</a:t>
            </a: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hp_diff = </a:t>
            </a:r>
            <a:r>
              <a:rPr lang="en-US" altLang="ko-KR" sz="180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.prev_hp - curr_hp</a:t>
            </a: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CF8E6D"/>
                </a:solidFill>
                <a:effectLst/>
                <a:latin typeface="JetBrains Mono"/>
              </a:rPr>
              <a:t>for 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idx, u </a:t>
            </a:r>
            <a:r>
              <a:rPr lang="en-US" altLang="ko-KR" sz="1800">
                <a:solidFill>
                  <a:srgbClr val="CF8E6D"/>
                </a:solidFill>
                <a:effectLst/>
                <a:latin typeface="JetBrains Mono"/>
              </a:rPr>
              <a:t>in </a:t>
            </a:r>
            <a:r>
              <a:rPr lang="en-US" altLang="ko-KR" sz="1800">
                <a:solidFill>
                  <a:srgbClr val="8888C6"/>
                </a:solidFill>
                <a:effectLst/>
                <a:latin typeface="JetBrains Mono"/>
              </a:rPr>
              <a:t>enumerate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ko-KR" sz="180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.units):</a:t>
            </a: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800">
                <a:solidFill>
                  <a:srgbClr val="CF8E6D"/>
                </a:solidFill>
                <a:effectLst/>
                <a:latin typeface="JetBrains Mono"/>
              </a:rPr>
              <a:t>if 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u.team == </a:t>
            </a:r>
            <a:r>
              <a:rPr lang="en-US" altLang="ko-KR" sz="1800"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: reward -= hp_diff[idx] * </a:t>
            </a:r>
            <a:r>
              <a:rPr lang="en-US" altLang="ko-KR" sz="1800">
                <a:solidFill>
                  <a:srgbClr val="2AACB8"/>
                </a:solidFill>
                <a:effectLst/>
                <a:latin typeface="JetBrains Mono"/>
              </a:rPr>
              <a:t>0.1</a:t>
            </a:r>
            <a:br>
              <a:rPr lang="en-US" altLang="ko-KR" sz="1800">
                <a:solidFill>
                  <a:srgbClr val="2AACB8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2AACB8"/>
                </a:solidFill>
                <a:effectLst/>
                <a:latin typeface="JetBrains Mono"/>
              </a:rPr>
              <a:t>    </a:t>
            </a:r>
            <a:r>
              <a:rPr lang="en-US" altLang="ko-KR" sz="1800">
                <a:solidFill>
                  <a:srgbClr val="CF8E6D"/>
                </a:solidFill>
                <a:effectLst/>
                <a:latin typeface="JetBrains Mono"/>
              </a:rPr>
              <a:t>else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: reward += hp_diff[idx] * </a:t>
            </a:r>
            <a:r>
              <a:rPr lang="en-US" altLang="ko-KR" sz="1800">
                <a:solidFill>
                  <a:srgbClr val="2AACB8"/>
                </a:solidFill>
                <a:effectLst/>
                <a:latin typeface="JetBrains Mono"/>
              </a:rPr>
              <a:t>0.1</a:t>
            </a:r>
            <a:br>
              <a:rPr lang="en-US" altLang="ko-KR" sz="1800">
                <a:solidFill>
                  <a:srgbClr val="2AACB8"/>
                </a:solidFill>
                <a:effectLst/>
                <a:latin typeface="JetBrains Mono"/>
              </a:rPr>
            </a:br>
            <a:br>
              <a:rPr lang="en-US" altLang="ko-KR" sz="1800">
                <a:solidFill>
                  <a:srgbClr val="2AACB8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CF8E6D"/>
                </a:solidFill>
                <a:effectLst/>
                <a:latin typeface="JetBrains Mono"/>
              </a:rPr>
              <a:t>for 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idx, u </a:t>
            </a:r>
            <a:r>
              <a:rPr lang="en-US" altLang="ko-KR" sz="1800">
                <a:solidFill>
                  <a:srgbClr val="CF8E6D"/>
                </a:solidFill>
                <a:effectLst/>
                <a:latin typeface="JetBrains Mono"/>
              </a:rPr>
              <a:t>in </a:t>
            </a:r>
            <a:r>
              <a:rPr lang="en-US" altLang="ko-KR" sz="1800">
                <a:solidFill>
                  <a:srgbClr val="8888C6"/>
                </a:solidFill>
                <a:effectLst/>
                <a:latin typeface="JetBrains Mono"/>
              </a:rPr>
              <a:t>enumerate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ko-KR" sz="180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.units):</a:t>
            </a: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800">
                <a:solidFill>
                  <a:srgbClr val="CF8E6D"/>
                </a:solidFill>
                <a:effectLst/>
                <a:latin typeface="JetBrains Mono"/>
              </a:rPr>
              <a:t>if 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u.team == </a:t>
            </a:r>
            <a:r>
              <a:rPr lang="en-US" altLang="ko-KR" sz="1800"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ko-KR" sz="1800">
                <a:solidFill>
                  <a:srgbClr val="CF8E6D"/>
                </a:solidFill>
                <a:effectLst/>
                <a:latin typeface="JetBrains Mono"/>
              </a:rPr>
              <a:t>if </a:t>
            </a:r>
            <a:r>
              <a:rPr lang="en-US" altLang="ko-KR" sz="180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.prev_hp[idx] &gt; </a:t>
            </a:r>
            <a:r>
              <a:rPr lang="en-US" altLang="ko-KR" sz="1800">
                <a:solidFill>
                  <a:srgbClr val="2AACB8"/>
                </a:solidFill>
                <a:effectLst/>
                <a:latin typeface="JetBrains Mono"/>
              </a:rPr>
              <a:t>0 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&gt;= curr_hp[idx]:</a:t>
            </a: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            reward += </a:t>
            </a:r>
            <a:r>
              <a:rPr lang="en-US" altLang="ko-KR" sz="1800">
                <a:solidFill>
                  <a:srgbClr val="2AACB8"/>
                </a:solidFill>
                <a:effectLst/>
                <a:latin typeface="JetBrains Mono"/>
              </a:rPr>
              <a:t>10.0</a:t>
            </a:r>
            <a:br>
              <a:rPr lang="en-US" altLang="ko-KR" sz="1800">
                <a:solidFill>
                  <a:srgbClr val="2AACB8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2AACB8"/>
                </a:solidFill>
                <a:effectLst/>
                <a:latin typeface="JetBrains Mono"/>
              </a:rPr>
              <a:t>    </a:t>
            </a:r>
            <a:r>
              <a:rPr lang="en-US" altLang="ko-KR" sz="1800">
                <a:solidFill>
                  <a:srgbClr val="CF8E6D"/>
                </a:solidFill>
                <a:effectLst/>
                <a:latin typeface="JetBrains Mono"/>
              </a:rPr>
              <a:t>if 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u.team == </a:t>
            </a:r>
            <a:r>
              <a:rPr lang="en-US" altLang="ko-KR" sz="1800"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ko-KR" sz="1800">
                <a:solidFill>
                  <a:srgbClr val="CF8E6D"/>
                </a:solidFill>
                <a:effectLst/>
                <a:latin typeface="JetBrains Mono"/>
              </a:rPr>
              <a:t>if </a:t>
            </a:r>
            <a:r>
              <a:rPr lang="en-US" altLang="ko-KR" sz="180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.prev_hp[idx] &gt; </a:t>
            </a:r>
            <a:r>
              <a:rPr lang="en-US" altLang="ko-KR" sz="1800">
                <a:solidFill>
                  <a:srgbClr val="2AACB8"/>
                </a:solidFill>
                <a:effectLst/>
                <a:latin typeface="JetBrains Mono"/>
              </a:rPr>
              <a:t>0 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&gt;= curr_hp[idx]:</a:t>
            </a: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            reward += </a:t>
            </a:r>
            <a:r>
              <a:rPr lang="en-US" altLang="ko-KR" sz="1800">
                <a:solidFill>
                  <a:srgbClr val="2AACB8"/>
                </a:solidFill>
                <a:effectLst/>
                <a:latin typeface="JetBrains Mono"/>
              </a:rPr>
              <a:t>10.0</a:t>
            </a:r>
            <a:br>
              <a:rPr lang="en-US" altLang="ko-KR" sz="1800">
                <a:solidFill>
                  <a:srgbClr val="2AACB8"/>
                </a:solidFill>
                <a:effectLst/>
                <a:latin typeface="JetBrains Mono"/>
              </a:rPr>
            </a:br>
            <a:br>
              <a:rPr lang="en-US" altLang="ko-KR" sz="1800">
                <a:solidFill>
                  <a:srgbClr val="2AACB8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CF8E6D"/>
                </a:solidFill>
                <a:effectLst/>
                <a:latin typeface="JetBrains Mono"/>
              </a:rPr>
              <a:t>if </a:t>
            </a:r>
            <a:r>
              <a:rPr lang="en-US" altLang="ko-KR" sz="1800">
                <a:solidFill>
                  <a:srgbClr val="8888C6"/>
                </a:solidFill>
                <a:effectLst/>
                <a:latin typeface="JetBrains Mono"/>
              </a:rPr>
              <a:t>all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(u.state == UnitState.DEAD </a:t>
            </a:r>
            <a:r>
              <a:rPr lang="en-US" altLang="ko-KR" sz="1800">
                <a:solidFill>
                  <a:srgbClr val="CF8E6D"/>
                </a:solidFill>
                <a:effectLst/>
                <a:latin typeface="JetBrains Mono"/>
              </a:rPr>
              <a:t>for 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u </a:t>
            </a:r>
            <a:r>
              <a:rPr lang="en-US" altLang="ko-KR" sz="1800">
                <a:solidFill>
                  <a:srgbClr val="CF8E6D"/>
                </a:solidFill>
                <a:effectLst/>
                <a:latin typeface="JetBrains Mono"/>
              </a:rPr>
              <a:t>in </a:t>
            </a:r>
            <a:r>
              <a:rPr lang="en-US" altLang="ko-KR" sz="180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._enemy_units()):</a:t>
            </a: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    reward += </a:t>
            </a:r>
            <a:r>
              <a:rPr lang="en-US" altLang="ko-KR" sz="1800">
                <a:solidFill>
                  <a:srgbClr val="2AACB8"/>
                </a:solidFill>
                <a:effectLst/>
                <a:latin typeface="JetBrains Mono"/>
              </a:rPr>
              <a:t>1000.0</a:t>
            </a:r>
            <a:br>
              <a:rPr lang="en-US" altLang="ko-KR" sz="1800">
                <a:solidFill>
                  <a:srgbClr val="2AACB8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CF8E6D"/>
                </a:solidFill>
                <a:effectLst/>
                <a:latin typeface="JetBrains Mono"/>
              </a:rPr>
              <a:t>if </a:t>
            </a:r>
            <a:r>
              <a:rPr lang="en-US" altLang="ko-KR" sz="1800">
                <a:solidFill>
                  <a:srgbClr val="8888C6"/>
                </a:solidFill>
                <a:effectLst/>
                <a:latin typeface="JetBrains Mono"/>
              </a:rPr>
              <a:t>all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(u.state == UnitState.DEAD </a:t>
            </a:r>
            <a:r>
              <a:rPr lang="en-US" altLang="ko-KR" sz="1800">
                <a:solidFill>
                  <a:srgbClr val="CF8E6D"/>
                </a:solidFill>
                <a:effectLst/>
                <a:latin typeface="JetBrains Mono"/>
              </a:rPr>
              <a:t>for 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u </a:t>
            </a:r>
            <a:r>
              <a:rPr lang="en-US" altLang="ko-KR" sz="1800">
                <a:solidFill>
                  <a:srgbClr val="CF8E6D"/>
                </a:solidFill>
                <a:effectLst/>
                <a:latin typeface="JetBrains Mono"/>
              </a:rPr>
              <a:t>in </a:t>
            </a:r>
            <a:r>
              <a:rPr lang="en-US" altLang="ko-KR" sz="180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._ally_units()):</a:t>
            </a: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    reward -= </a:t>
            </a:r>
            <a:r>
              <a:rPr lang="en-US" altLang="ko-KR" sz="1800">
                <a:solidFill>
                  <a:srgbClr val="2AACB8"/>
                </a:solidFill>
                <a:effectLst/>
                <a:latin typeface="JetBrains Mono"/>
              </a:rPr>
              <a:t>1000.0</a:t>
            </a:r>
            <a:br>
              <a:rPr lang="en-US" altLang="ko-KR" sz="1800">
                <a:solidFill>
                  <a:srgbClr val="2AACB8"/>
                </a:solidFill>
                <a:effectLst/>
                <a:latin typeface="JetBrains Mono"/>
              </a:rPr>
            </a:br>
            <a:br>
              <a:rPr lang="en-US" altLang="ko-KR" sz="1800">
                <a:solidFill>
                  <a:srgbClr val="2AACB8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.prev_hp = curr_hp.copy()</a:t>
            </a: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CF8E6D"/>
                </a:solidFill>
                <a:effectLst/>
                <a:latin typeface="JetBrains Mono"/>
              </a:rPr>
              <a:t>return 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reward</a:t>
            </a:r>
          </a:p>
        </p:txBody>
      </p:sp>
    </p:spTree>
    <p:extLst>
      <p:ext uri="{BB962C8B-B14F-4D97-AF65-F5344CB8AC3E}">
        <p14:creationId xmlns:p14="http://schemas.microsoft.com/office/powerpoint/2010/main" val="1989129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DEBFC-763A-ED1F-A5E9-16CEA3F4F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8A09E89-AEAA-1B3B-B978-A7CA9E947241}"/>
              </a:ext>
            </a:extLst>
          </p:cNvPr>
          <p:cNvSpPr txBox="1"/>
          <p:nvPr/>
        </p:nvSpPr>
        <p:spPr>
          <a:xfrm>
            <a:off x="416858" y="336176"/>
            <a:ext cx="912382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강화학습 알고리즘 및 </a:t>
            </a:r>
            <a:r>
              <a:rPr lang="en-US" altLang="ko-KR" sz="300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hyperparameter</a:t>
            </a:r>
            <a:endParaRPr lang="ko-KR" altLang="en-US" sz="3000">
              <a:latin typeface="Pretendard Variable SemiBold" panose="02000003000000020004" pitchFamily="2" charset="-127"/>
              <a:ea typeface="Pretendard Variable SemiBold" panose="02000003000000020004" pitchFamily="2" charset="-127"/>
              <a:cs typeface="Pretendard Variable SemiBold" panose="020000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7E4564-F12B-E05F-7BEA-C81BE2A21BD1}"/>
              </a:ext>
            </a:extLst>
          </p:cNvPr>
          <p:cNvSpPr txBox="1"/>
          <p:nvPr/>
        </p:nvSpPr>
        <p:spPr>
          <a:xfrm>
            <a:off x="806824" y="1957419"/>
            <a:ext cx="609487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>
                <a:solidFill>
                  <a:srgbClr val="CF8E6D"/>
                </a:solidFill>
                <a:effectLst/>
                <a:latin typeface="JetBrains Mono"/>
              </a:rPr>
              <a:t>def </a:t>
            </a:r>
            <a:r>
              <a:rPr lang="en-US" altLang="ko-KR" sz="1800">
                <a:solidFill>
                  <a:srgbClr val="56A8F5"/>
                </a:solidFill>
                <a:effectLst/>
                <a:latin typeface="JetBrains Mono"/>
              </a:rPr>
              <a:t>main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():</a:t>
            </a: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    env = SubprocVecEnv([make_env() </a:t>
            </a:r>
            <a:r>
              <a:rPr lang="en-US" altLang="ko-KR" sz="1800">
                <a:solidFill>
                  <a:srgbClr val="CF8E6D"/>
                </a:solidFill>
                <a:effectLst/>
                <a:latin typeface="JetBrains Mono"/>
              </a:rPr>
              <a:t>for 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_ </a:t>
            </a:r>
            <a:r>
              <a:rPr lang="en-US" altLang="ko-KR" sz="1800">
                <a:solidFill>
                  <a:srgbClr val="CF8E6D"/>
                </a:solidFill>
                <a:effectLst/>
                <a:latin typeface="JetBrains Mono"/>
              </a:rPr>
              <a:t>in </a:t>
            </a:r>
            <a:r>
              <a:rPr lang="en-US" altLang="ko-KR" sz="1800">
                <a:solidFill>
                  <a:srgbClr val="8888C6"/>
                </a:solidFill>
                <a:effectLst/>
                <a:latin typeface="JetBrains Mono"/>
              </a:rPr>
              <a:t>range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ko-KR" sz="1800">
                <a:solidFill>
                  <a:srgbClr val="2AACB8"/>
                </a:solidFill>
                <a:effectLst/>
                <a:latin typeface="JetBrains Mono"/>
              </a:rPr>
              <a:t>8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)])</a:t>
            </a:r>
          </a:p>
          <a:p>
            <a:pPr>
              <a:buNone/>
            </a:pPr>
            <a:endParaRPr lang="en-US" altLang="ko-KR">
              <a:solidFill>
                <a:srgbClr val="BCBEC4"/>
              </a:solidFill>
              <a:latin typeface="JetBrains Mono"/>
            </a:endParaRPr>
          </a:p>
          <a:p>
            <a:pPr lvl="1"/>
            <a:r>
              <a:rPr lang="en-US" altLang="ko-KR">
                <a:solidFill>
                  <a:srgbClr val="BCBEC4"/>
                </a:solidFill>
                <a:latin typeface="JetBrains Mono"/>
              </a:rPr>
              <a:t>model = PPO(</a:t>
            </a:r>
            <a:br>
              <a:rPr lang="en-US" altLang="ko-KR">
                <a:solidFill>
                  <a:srgbClr val="BCBEC4"/>
                </a:solidFill>
                <a:latin typeface="JetBrains Mono"/>
              </a:rPr>
            </a:br>
            <a:r>
              <a:rPr lang="en-US" altLang="ko-KR">
                <a:solidFill>
                  <a:srgbClr val="BCBEC4"/>
                </a:solidFill>
                <a:latin typeface="JetBrains Mono"/>
              </a:rPr>
              <a:t>    </a:t>
            </a:r>
            <a:r>
              <a:rPr lang="en-US" altLang="ko-KR">
                <a:solidFill>
                  <a:srgbClr val="6AAB73"/>
                </a:solidFill>
                <a:latin typeface="JetBrains Mono"/>
              </a:rPr>
              <a:t>"MlpPolicy"</a:t>
            </a:r>
            <a:r>
              <a:rPr lang="en-US" altLang="ko-KR">
                <a:solidFill>
                  <a:srgbClr val="BCBEC4"/>
                </a:solidFill>
                <a:latin typeface="JetBrains Mono"/>
              </a:rPr>
              <a:t>,</a:t>
            </a:r>
            <a:br>
              <a:rPr lang="en-US" altLang="ko-KR">
                <a:solidFill>
                  <a:srgbClr val="BCBEC4"/>
                </a:solidFill>
                <a:latin typeface="JetBrains Mono"/>
              </a:rPr>
            </a:br>
            <a:r>
              <a:rPr lang="en-US" altLang="ko-KR">
                <a:solidFill>
                  <a:srgbClr val="BCBEC4"/>
                </a:solidFill>
                <a:latin typeface="JetBrains Mono"/>
              </a:rPr>
              <a:t>    env,</a:t>
            </a:r>
            <a:br>
              <a:rPr lang="en-US" altLang="ko-KR">
                <a:solidFill>
                  <a:srgbClr val="BCBEC4"/>
                </a:solidFill>
                <a:latin typeface="JetBrains Mono"/>
              </a:rPr>
            </a:br>
            <a:r>
              <a:rPr lang="en-US" altLang="ko-KR">
                <a:solidFill>
                  <a:srgbClr val="BCBEC4"/>
                </a:solidFill>
                <a:latin typeface="JetBrains Mono"/>
              </a:rPr>
              <a:t>    </a:t>
            </a:r>
            <a:r>
              <a:rPr lang="en-US" altLang="ko-KR">
                <a:solidFill>
                  <a:srgbClr val="AA4926"/>
                </a:solidFill>
                <a:latin typeface="JetBrains Mono"/>
              </a:rPr>
              <a:t>n_steps</a:t>
            </a:r>
            <a:r>
              <a:rPr lang="en-US" altLang="ko-KR">
                <a:solidFill>
                  <a:srgbClr val="BCBEC4"/>
                </a:solidFill>
                <a:latin typeface="JetBrains Mono"/>
              </a:rPr>
              <a:t>=</a:t>
            </a:r>
            <a:r>
              <a:rPr lang="en-US" altLang="ko-KR">
                <a:solidFill>
                  <a:srgbClr val="2AACB8"/>
                </a:solidFill>
                <a:latin typeface="JetBrains Mono"/>
              </a:rPr>
              <a:t>2048</a:t>
            </a:r>
            <a:r>
              <a:rPr lang="en-US" altLang="ko-KR">
                <a:solidFill>
                  <a:srgbClr val="BCBEC4"/>
                </a:solidFill>
                <a:latin typeface="JetBrains Mono"/>
              </a:rPr>
              <a:t>,</a:t>
            </a:r>
            <a:br>
              <a:rPr lang="en-US" altLang="ko-KR">
                <a:solidFill>
                  <a:srgbClr val="BCBEC4"/>
                </a:solidFill>
                <a:latin typeface="JetBrains Mono"/>
              </a:rPr>
            </a:br>
            <a:r>
              <a:rPr lang="en-US" altLang="ko-KR">
                <a:solidFill>
                  <a:srgbClr val="BCBEC4"/>
                </a:solidFill>
                <a:latin typeface="JetBrains Mono"/>
              </a:rPr>
              <a:t>    </a:t>
            </a:r>
            <a:r>
              <a:rPr lang="en-US" altLang="ko-KR">
                <a:solidFill>
                  <a:srgbClr val="AA4926"/>
                </a:solidFill>
                <a:latin typeface="JetBrains Mono"/>
              </a:rPr>
              <a:t>batch_size</a:t>
            </a:r>
            <a:r>
              <a:rPr lang="en-US" altLang="ko-KR">
                <a:solidFill>
                  <a:srgbClr val="BCBEC4"/>
                </a:solidFill>
                <a:latin typeface="JetBrains Mono"/>
              </a:rPr>
              <a:t>=</a:t>
            </a:r>
            <a:r>
              <a:rPr lang="en-US" altLang="ko-KR">
                <a:solidFill>
                  <a:srgbClr val="2AACB8"/>
                </a:solidFill>
                <a:latin typeface="JetBrains Mono"/>
              </a:rPr>
              <a:t>64</a:t>
            </a:r>
            <a:r>
              <a:rPr lang="en-US" altLang="ko-KR">
                <a:solidFill>
                  <a:srgbClr val="BCBEC4"/>
                </a:solidFill>
                <a:latin typeface="JetBrains Mono"/>
              </a:rPr>
              <a:t>,</a:t>
            </a:r>
            <a:br>
              <a:rPr lang="en-US" altLang="ko-KR">
                <a:solidFill>
                  <a:srgbClr val="BCBEC4"/>
                </a:solidFill>
                <a:latin typeface="JetBrains Mono"/>
              </a:rPr>
            </a:br>
            <a:r>
              <a:rPr lang="en-US" altLang="ko-KR">
                <a:solidFill>
                  <a:srgbClr val="BCBEC4"/>
                </a:solidFill>
                <a:latin typeface="JetBrains Mono"/>
              </a:rPr>
              <a:t>    </a:t>
            </a:r>
            <a:r>
              <a:rPr lang="en-US" altLang="ko-KR">
                <a:solidFill>
                  <a:srgbClr val="AA4926"/>
                </a:solidFill>
                <a:latin typeface="JetBrains Mono"/>
              </a:rPr>
              <a:t>learning_rate</a:t>
            </a:r>
            <a:r>
              <a:rPr lang="en-US" altLang="ko-KR">
                <a:solidFill>
                  <a:srgbClr val="BCBEC4"/>
                </a:solidFill>
                <a:latin typeface="JetBrains Mono"/>
              </a:rPr>
              <a:t>=</a:t>
            </a:r>
            <a:r>
              <a:rPr lang="en-US" altLang="ko-KR">
                <a:solidFill>
                  <a:srgbClr val="2AACB8"/>
                </a:solidFill>
                <a:latin typeface="JetBrains Mono"/>
              </a:rPr>
              <a:t>3e-4</a:t>
            </a:r>
            <a:r>
              <a:rPr lang="en-US" altLang="ko-KR">
                <a:solidFill>
                  <a:srgbClr val="BCBEC4"/>
                </a:solidFill>
                <a:latin typeface="JetBrains Mono"/>
              </a:rPr>
              <a:t>,</a:t>
            </a:r>
            <a:br>
              <a:rPr lang="en-US" altLang="ko-KR">
                <a:solidFill>
                  <a:srgbClr val="BCBEC4"/>
                </a:solidFill>
                <a:latin typeface="JetBrains Mono"/>
              </a:rPr>
            </a:br>
            <a:r>
              <a:rPr lang="en-US" altLang="ko-KR">
                <a:solidFill>
                  <a:srgbClr val="BCBEC4"/>
                </a:solidFill>
                <a:latin typeface="JetBrains Mono"/>
              </a:rPr>
              <a:t>    </a:t>
            </a:r>
            <a:r>
              <a:rPr lang="en-US" altLang="ko-KR">
                <a:solidFill>
                  <a:srgbClr val="AA4926"/>
                </a:solidFill>
                <a:latin typeface="JetBrains Mono"/>
              </a:rPr>
              <a:t>gamma</a:t>
            </a:r>
            <a:r>
              <a:rPr lang="en-US" altLang="ko-KR">
                <a:solidFill>
                  <a:srgbClr val="BCBEC4"/>
                </a:solidFill>
                <a:latin typeface="JetBrains Mono"/>
              </a:rPr>
              <a:t>=</a:t>
            </a:r>
            <a:r>
              <a:rPr lang="en-US" altLang="ko-KR">
                <a:solidFill>
                  <a:srgbClr val="2AACB8"/>
                </a:solidFill>
                <a:latin typeface="JetBrains Mono"/>
              </a:rPr>
              <a:t>0.95</a:t>
            </a:r>
            <a:r>
              <a:rPr lang="en-US" altLang="ko-KR">
                <a:solidFill>
                  <a:srgbClr val="BCBEC4"/>
                </a:solidFill>
                <a:latin typeface="JetBrains Mono"/>
              </a:rPr>
              <a:t>,</a:t>
            </a:r>
            <a:br>
              <a:rPr lang="en-US" altLang="ko-KR">
                <a:solidFill>
                  <a:srgbClr val="BCBEC4"/>
                </a:solidFill>
                <a:latin typeface="JetBrains Mono"/>
              </a:rPr>
            </a:br>
            <a:r>
              <a:rPr lang="en-US" altLang="ko-KR">
                <a:solidFill>
                  <a:srgbClr val="BCBEC4"/>
                </a:solidFill>
                <a:latin typeface="JetBrains Mono"/>
              </a:rPr>
              <a:t>    </a:t>
            </a:r>
            <a:r>
              <a:rPr lang="en-US" altLang="ko-KR">
                <a:solidFill>
                  <a:srgbClr val="AA4926"/>
                </a:solidFill>
                <a:latin typeface="JetBrains Mono"/>
              </a:rPr>
              <a:t>verbose</a:t>
            </a:r>
            <a:r>
              <a:rPr lang="en-US" altLang="ko-KR">
                <a:solidFill>
                  <a:srgbClr val="BCBEC4"/>
                </a:solidFill>
                <a:latin typeface="JetBrains Mono"/>
              </a:rPr>
              <a:t>=</a:t>
            </a:r>
            <a:r>
              <a:rPr lang="en-US" altLang="ko-KR">
                <a:solidFill>
                  <a:srgbClr val="2AACB8"/>
                </a:solidFill>
                <a:latin typeface="JetBrains Mono"/>
              </a:rPr>
              <a:t>1</a:t>
            </a:r>
            <a:r>
              <a:rPr lang="en-US" altLang="ko-KR">
                <a:solidFill>
                  <a:srgbClr val="BCBEC4"/>
                </a:solidFill>
                <a:latin typeface="JetBrains Mono"/>
              </a:rPr>
              <a:t>,</a:t>
            </a:r>
            <a:br>
              <a:rPr lang="en-US" altLang="ko-KR">
                <a:solidFill>
                  <a:srgbClr val="BCBEC4"/>
                </a:solidFill>
                <a:latin typeface="JetBrains Mono"/>
              </a:rPr>
            </a:br>
            <a:r>
              <a:rPr lang="en-US" altLang="ko-KR">
                <a:solidFill>
                  <a:srgbClr val="BCBEC4"/>
                </a:solidFill>
                <a:latin typeface="JetBrains Mono"/>
              </a:rPr>
              <a:t>)</a:t>
            </a:r>
          </a:p>
          <a:p>
            <a:pPr>
              <a:buNone/>
            </a:pPr>
            <a:br>
              <a:rPr lang="ko-KR" altLang="en-US" sz="1800">
                <a:solidFill>
                  <a:srgbClr val="7A7E85"/>
                </a:solidFill>
                <a:effectLst/>
                <a:latin typeface="Courier New" panose="02070309020205020404" pitchFamily="49" charset="0"/>
              </a:rPr>
            </a:br>
            <a:r>
              <a:rPr lang="ko-KR" altLang="en-US" sz="1800">
                <a:solidFill>
                  <a:srgbClr val="7A7E85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model.learn(</a:t>
            </a:r>
            <a:r>
              <a:rPr lang="en-US" altLang="ko-KR" sz="1800">
                <a:solidFill>
                  <a:srgbClr val="AA4926"/>
                </a:solidFill>
                <a:effectLst/>
                <a:latin typeface="JetBrains Mono"/>
              </a:rPr>
              <a:t>total_timesteps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ko-KR" sz="1800">
                <a:solidFill>
                  <a:srgbClr val="2AACB8"/>
                </a:solidFill>
                <a:effectLst/>
                <a:latin typeface="JetBrains Mono"/>
              </a:rPr>
              <a:t>1_000_000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ko-KR" sz="1800">
                <a:solidFill>
                  <a:srgbClr val="AA4926"/>
                </a:solidFill>
                <a:effectLst/>
                <a:latin typeface="JetBrains Mono"/>
              </a:rPr>
              <a:t>callback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=callback)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0599B2-337B-9468-6AFF-09511A4C8BFF}"/>
              </a:ext>
            </a:extLst>
          </p:cNvPr>
          <p:cNvSpPr txBox="1"/>
          <p:nvPr/>
        </p:nvSpPr>
        <p:spPr>
          <a:xfrm>
            <a:off x="806824" y="1311088"/>
            <a:ext cx="8626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Proximal Policy Optimization </a:t>
            </a:r>
            <a:r>
              <a:rPr lang="ko-KR" altLang="en-US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사용</a:t>
            </a:r>
            <a:br>
              <a:rPr lang="en-US" altLang="ko-KR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</a:br>
            <a:r>
              <a:rPr lang="ko-KR" altLang="en-US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더 공격적인 행동을 유도하기 위해</a:t>
            </a:r>
            <a:r>
              <a:rPr lang="en-US" altLang="ko-KR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gamma</a:t>
            </a:r>
            <a:r>
              <a:rPr lang="ko-KR" altLang="en-US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</a:t>
            </a:r>
            <a:r>
              <a:rPr lang="en-US" altLang="ko-KR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0.95</a:t>
            </a:r>
            <a:r>
              <a:rPr lang="ko-KR" altLang="en-US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사용</a:t>
            </a:r>
            <a:endParaRPr lang="en-US" altLang="ko-KR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2553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31B1F-52EA-EF83-3A04-D2AFBD177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E25F92C-6CAD-D94D-7228-184692AB9804}"/>
              </a:ext>
            </a:extLst>
          </p:cNvPr>
          <p:cNvSpPr txBox="1"/>
          <p:nvPr/>
        </p:nvSpPr>
        <p:spPr>
          <a:xfrm>
            <a:off x="416858" y="336176"/>
            <a:ext cx="912382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실험 셋업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0F0ECF-C5F3-ACFA-8D91-1E86D481D982}"/>
              </a:ext>
            </a:extLst>
          </p:cNvPr>
          <p:cNvSpPr txBox="1"/>
          <p:nvPr/>
        </p:nvSpPr>
        <p:spPr>
          <a:xfrm>
            <a:off x="806824" y="1311088"/>
            <a:ext cx="8626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실험 환경</a:t>
            </a:r>
            <a:endParaRPr lang="en-US" altLang="ko-KR">
              <a:latin typeface="Pretendard Variable Black" panose="02000003000000020004" pitchFamily="2" charset="-127"/>
              <a:ea typeface="Pretendard Variable Black" panose="02000003000000020004" pitchFamily="2" charset="-127"/>
              <a:cs typeface="Pretendard Variable Black" panose="02000003000000020004" pitchFamily="2" charset="-127"/>
            </a:endParaRPr>
          </a:p>
          <a:p>
            <a:r>
              <a:rPr lang="en-US" altLang="ko-KR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i5-13600K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A28676-4EFF-45FF-E3F7-F7221DBB1604}"/>
              </a:ext>
            </a:extLst>
          </p:cNvPr>
          <p:cNvSpPr txBox="1"/>
          <p:nvPr/>
        </p:nvSpPr>
        <p:spPr>
          <a:xfrm>
            <a:off x="806824" y="1987033"/>
            <a:ext cx="60948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env = SubprocVecEnv([make_env() </a:t>
            </a:r>
            <a:r>
              <a:rPr lang="en-US" altLang="ko-KR" sz="1800">
                <a:solidFill>
                  <a:srgbClr val="CF8E6D"/>
                </a:solidFill>
                <a:effectLst/>
                <a:latin typeface="JetBrains Mono"/>
              </a:rPr>
              <a:t>for 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_ </a:t>
            </a:r>
            <a:r>
              <a:rPr lang="en-US" altLang="ko-KR" sz="1800">
                <a:solidFill>
                  <a:srgbClr val="CF8E6D"/>
                </a:solidFill>
                <a:effectLst/>
                <a:latin typeface="JetBrains Mono"/>
              </a:rPr>
              <a:t>in </a:t>
            </a:r>
            <a:r>
              <a:rPr lang="en-US" altLang="ko-KR" sz="1800">
                <a:solidFill>
                  <a:srgbClr val="8888C6"/>
                </a:solidFill>
                <a:effectLst/>
                <a:latin typeface="JetBrains Mono"/>
              </a:rPr>
              <a:t>range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ko-KR" sz="1800">
                <a:solidFill>
                  <a:srgbClr val="2AACB8"/>
                </a:solidFill>
                <a:effectLst/>
                <a:latin typeface="JetBrains Mono"/>
              </a:rPr>
              <a:t>8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)])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32A2AC-F957-F320-9F27-D42390F03314}"/>
              </a:ext>
            </a:extLst>
          </p:cNvPr>
          <p:cNvSpPr txBox="1"/>
          <p:nvPr/>
        </p:nvSpPr>
        <p:spPr>
          <a:xfrm>
            <a:off x="806824" y="3146255"/>
            <a:ext cx="609487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callback = EpisodeLoggingCallback(</a:t>
            </a: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800">
                <a:solidFill>
                  <a:srgbClr val="AA4926"/>
                </a:solidFill>
                <a:effectLst/>
                <a:latin typeface="JetBrains Mono"/>
              </a:rPr>
              <a:t>log_dir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ko-KR" sz="1800">
                <a:solidFill>
                  <a:srgbClr val="6AAB73"/>
                </a:solidFill>
                <a:effectLst/>
                <a:latin typeface="JetBrains Mono"/>
              </a:rPr>
              <a:t>"logs"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,</a:t>
            </a:r>
            <a:b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ko-KR" sz="1800">
                <a:solidFill>
                  <a:srgbClr val="AA4926"/>
                </a:solidFill>
                <a:effectLst/>
                <a:latin typeface="JetBrains Mono"/>
              </a:rPr>
              <a:t>record_every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ko-KR" sz="1800">
                <a:solidFill>
                  <a:srgbClr val="2AACB8"/>
                </a:solidFill>
                <a:effectLst/>
                <a:latin typeface="JetBrains Mono"/>
              </a:rPr>
              <a:t>10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,</a:t>
            </a:r>
            <a:br>
              <a:rPr lang="ko-KR" altLang="en-US" sz="1800">
                <a:solidFill>
                  <a:srgbClr val="7A7E85"/>
                </a:solidFill>
                <a:effectLst/>
                <a:latin typeface="Courier New" panose="02070309020205020404" pitchFamily="49" charset="0"/>
              </a:rPr>
            </a:br>
            <a:r>
              <a:rPr lang="ko-KR" altLang="en-US" sz="1800">
                <a:solidFill>
                  <a:srgbClr val="7A7E85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ko-KR" sz="1800">
                <a:solidFill>
                  <a:srgbClr val="AA4926"/>
                </a:solidFill>
                <a:effectLst/>
                <a:latin typeface="JetBrains Mono"/>
              </a:rPr>
              <a:t>verbose</a:t>
            </a: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ko-KR" sz="1800">
                <a:solidFill>
                  <a:srgbClr val="2AACB8"/>
                </a:solidFill>
                <a:effectLst/>
                <a:latin typeface="JetBrains Mono"/>
              </a:rPr>
              <a:t>1</a:t>
            </a:r>
            <a:br>
              <a:rPr lang="en-US" altLang="ko-KR" sz="1800">
                <a:solidFill>
                  <a:srgbClr val="2AACB8"/>
                </a:solidFill>
                <a:effectLst/>
                <a:latin typeface="JetBrains Mono"/>
              </a:rPr>
            </a:br>
            <a:r>
              <a:rPr lang="en-US" altLang="ko-KR" sz="1800">
                <a:solidFill>
                  <a:srgbClr val="BCBEC4"/>
                </a:solidFill>
                <a:effectLst/>
                <a:latin typeface="JetBrains Mono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2403FF-9F74-83D0-74EC-0563B436B476}"/>
              </a:ext>
            </a:extLst>
          </p:cNvPr>
          <p:cNvSpPr txBox="1"/>
          <p:nvPr/>
        </p:nvSpPr>
        <p:spPr>
          <a:xfrm>
            <a:off x="806824" y="2428144"/>
            <a:ext cx="8626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에피소드 </a:t>
            </a:r>
            <a:r>
              <a:rPr lang="en-US" altLang="ko-KR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10</a:t>
            </a:r>
            <a:r>
              <a:rPr lang="ko-KR" altLang="en-US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회마다 보상 로그를 수집한다</a:t>
            </a:r>
            <a:r>
              <a:rPr lang="en-US" altLang="ko-KR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4726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00276-582D-9A6D-B6CA-099321B75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3B43123-37EE-7EB7-769A-FDD460138985}"/>
              </a:ext>
            </a:extLst>
          </p:cNvPr>
          <p:cNvSpPr txBox="1"/>
          <p:nvPr/>
        </p:nvSpPr>
        <p:spPr>
          <a:xfrm>
            <a:off x="416858" y="336176"/>
            <a:ext cx="912382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실험 결과</a:t>
            </a:r>
          </a:p>
        </p:txBody>
      </p:sp>
      <p:pic>
        <p:nvPicPr>
          <p:cNvPr id="5" name="그림 4" descr="원, 그래픽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D60AB91-2E1C-78A4-2797-308905E03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3353" y="3817255"/>
            <a:ext cx="762106" cy="943107"/>
          </a:xfrm>
          <a:prstGeom prst="rect">
            <a:avLst/>
          </a:prstGeom>
        </p:spPr>
      </p:pic>
      <p:pic>
        <p:nvPicPr>
          <p:cNvPr id="8" name="그림 7" descr="텍스트, 라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714EDE-B8D9-7AE8-A968-0BB164860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422" y="1519717"/>
            <a:ext cx="7727266" cy="418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723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8F641-FCBA-949D-553C-373600EAD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E5840B0-DA3E-BB1F-DADC-0195B47EFD7D}"/>
              </a:ext>
            </a:extLst>
          </p:cNvPr>
          <p:cNvSpPr txBox="1"/>
          <p:nvPr/>
        </p:nvSpPr>
        <p:spPr>
          <a:xfrm>
            <a:off x="416858" y="336176"/>
            <a:ext cx="912382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토의 및 결론</a:t>
            </a:r>
          </a:p>
        </p:txBody>
      </p:sp>
    </p:spTree>
    <p:extLst>
      <p:ext uri="{BB962C8B-B14F-4D97-AF65-F5344CB8AC3E}">
        <p14:creationId xmlns:p14="http://schemas.microsoft.com/office/powerpoint/2010/main" val="3661559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1063</Words>
  <Application>Microsoft Office PowerPoint</Application>
  <PresentationFormat>와이드스크린</PresentationFormat>
  <Paragraphs>56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0" baseType="lpstr">
      <vt:lpstr>JetBrains Mono</vt:lpstr>
      <vt:lpstr>Pretendard Variable Black</vt:lpstr>
      <vt:lpstr>Pretendard Variable Medium</vt:lpstr>
      <vt:lpstr>Pretendard Variable SemiBold</vt:lpstr>
      <vt:lpstr>맑은 고딕</vt:lpstr>
      <vt:lpstr>Arial</vt:lpstr>
      <vt:lpstr>Courier New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HYUNHO KWON</dc:creator>
  <cp:lastModifiedBy>HYUNHO KWON</cp:lastModifiedBy>
  <cp:revision>1</cp:revision>
  <dcterms:created xsi:type="dcterms:W3CDTF">2025-12-07T10:36:59Z</dcterms:created>
  <dcterms:modified xsi:type="dcterms:W3CDTF">2025-12-07T14:30:56Z</dcterms:modified>
</cp:coreProperties>
</file>